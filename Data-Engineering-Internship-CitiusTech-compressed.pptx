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272C4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C314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272C4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C314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272C4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rgbClr val="272C4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419" y="408477"/>
            <a:ext cx="5492115" cy="564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rgbClr val="272C45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7190" y="2029434"/>
            <a:ext cx="4636134" cy="1502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C314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181" y="4844491"/>
            <a:ext cx="1071843" cy="25603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12412" y="1775523"/>
            <a:ext cx="4353560" cy="8807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/>
              <a:t>Data</a:t>
            </a:r>
            <a:r>
              <a:rPr dirty="0" sz="2750" spc="-40"/>
              <a:t> </a:t>
            </a:r>
            <a:r>
              <a:rPr dirty="0" sz="2750"/>
              <a:t>Engineering</a:t>
            </a:r>
            <a:r>
              <a:rPr dirty="0" sz="2750" spc="-35"/>
              <a:t> </a:t>
            </a:r>
            <a:r>
              <a:rPr dirty="0" sz="2750" spc="-10"/>
              <a:t>Internship</a:t>
            </a:r>
            <a:endParaRPr sz="2750"/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— </a:t>
            </a:r>
            <a:r>
              <a:rPr dirty="0" sz="2750" spc="-10"/>
              <a:t>CitiusTech</a:t>
            </a:r>
            <a:endParaRPr sz="2750"/>
          </a:p>
        </p:txBody>
      </p:sp>
      <p:sp>
        <p:nvSpPr>
          <p:cNvPr id="5" name="object 5" descr=""/>
          <p:cNvSpPr txBox="1"/>
          <p:nvPr/>
        </p:nvSpPr>
        <p:spPr>
          <a:xfrm>
            <a:off x="3912412" y="2823210"/>
            <a:ext cx="4662805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Project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Team: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Arcadia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Management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•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Duration: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6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months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•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Presented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by: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Tejas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Desai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12412" y="845936"/>
            <a:ext cx="2151380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/>
              <a:t>About</a:t>
            </a:r>
            <a:r>
              <a:rPr dirty="0" sz="2200" spc="-60"/>
              <a:t> </a:t>
            </a:r>
            <a:r>
              <a:rPr dirty="0" sz="2200" spc="-10"/>
              <a:t>CitiusTech</a:t>
            </a:r>
            <a:endParaRPr sz="220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5112" y="1431505"/>
            <a:ext cx="354360" cy="35435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443958" y="1415173"/>
            <a:ext cx="4076065" cy="2810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2C3148"/>
                </a:solidFill>
                <a:latin typeface="Arial"/>
                <a:cs typeface="Arial"/>
              </a:rPr>
              <a:t>Who</a:t>
            </a:r>
            <a:r>
              <a:rPr dirty="0" sz="135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C3148"/>
                </a:solidFill>
                <a:latin typeface="Arial"/>
                <a:cs typeface="Arial"/>
              </a:rPr>
              <a:t>they</a:t>
            </a:r>
            <a:r>
              <a:rPr dirty="0" sz="1350" spc="-10">
                <a:solidFill>
                  <a:srgbClr val="2C3148"/>
                </a:solidFill>
                <a:latin typeface="Arial"/>
                <a:cs typeface="Arial"/>
              </a:rPr>
              <a:t> serve</a:t>
            </a:r>
            <a:endParaRPr sz="1350">
              <a:latin typeface="Arial"/>
              <a:cs typeface="Arial"/>
            </a:endParaRPr>
          </a:p>
          <a:p>
            <a:pPr marL="12700" marR="408305">
              <a:lnSpc>
                <a:spcPct val="133000"/>
              </a:lnSpc>
              <a:spcBef>
                <a:spcPts val="360"/>
              </a:spcBef>
            </a:pP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Healthcare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providers,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payers,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medtech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life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sciences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50">
                <a:solidFill>
                  <a:srgbClr val="2C3148"/>
                </a:solidFill>
                <a:latin typeface="Arial"/>
                <a:cs typeface="Arial"/>
              </a:rPr>
              <a:t>—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specialised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in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clinical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operational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solutions.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>
                <a:solidFill>
                  <a:srgbClr val="2C3148"/>
                </a:solidFill>
                <a:latin typeface="Arial"/>
                <a:cs typeface="Arial"/>
              </a:rPr>
              <a:t>Core</a:t>
            </a:r>
            <a:r>
              <a:rPr dirty="0" sz="135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C3148"/>
                </a:solidFill>
                <a:latin typeface="Arial"/>
                <a:cs typeface="Arial"/>
              </a:rPr>
              <a:t>capabilities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5"/>
              </a:spcBef>
            </a:pP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Healthcare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platforms,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analytics,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cloud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transformation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AI-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driven</a:t>
            </a:r>
            <a:r>
              <a:rPr dirty="0" sz="1100" spc="-4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solutions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enterprise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scale.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">
                <a:solidFill>
                  <a:srgbClr val="2C3148"/>
                </a:solidFill>
                <a:latin typeface="Arial"/>
                <a:cs typeface="Arial"/>
              </a:rPr>
              <a:t>Commitment</a:t>
            </a:r>
            <a:endParaRPr sz="1350">
              <a:latin typeface="Arial"/>
              <a:cs typeface="Arial"/>
            </a:endParaRPr>
          </a:p>
          <a:p>
            <a:pPr marL="12700" marR="438150">
              <a:lnSpc>
                <a:spcPct val="133000"/>
              </a:lnSpc>
              <a:spcBef>
                <a:spcPts val="365"/>
              </a:spcBef>
            </a:pP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Security,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compliance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trusted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delivery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across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regulated healthcare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environments.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25112" y="2475166"/>
            <a:ext cx="354360" cy="35435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25112" y="3518814"/>
            <a:ext cx="354360" cy="3543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12412" y="1459928"/>
            <a:ext cx="4729480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/>
              <a:t>Internship</a:t>
            </a:r>
            <a:r>
              <a:rPr dirty="0" sz="2200" spc="-95"/>
              <a:t> </a:t>
            </a:r>
            <a:r>
              <a:rPr dirty="0" sz="2200"/>
              <a:t>Objective</a:t>
            </a:r>
            <a:r>
              <a:rPr dirty="0" sz="2200" spc="-100"/>
              <a:t> </a:t>
            </a:r>
            <a:r>
              <a:rPr dirty="0" sz="2200"/>
              <a:t>&amp;</a:t>
            </a:r>
            <a:r>
              <a:rPr dirty="0" sz="2200" spc="-95"/>
              <a:t> </a:t>
            </a:r>
            <a:r>
              <a:rPr dirty="0" sz="2200"/>
              <a:t>Learning</a:t>
            </a:r>
            <a:r>
              <a:rPr dirty="0" sz="2200" spc="-95"/>
              <a:t> </a:t>
            </a:r>
            <a:r>
              <a:rPr dirty="0" sz="2200" spc="-10"/>
              <a:t>Goals</a:t>
            </a:r>
            <a:endParaRPr sz="2200"/>
          </a:p>
        </p:txBody>
      </p:sp>
      <p:sp>
        <p:nvSpPr>
          <p:cNvPr id="4" name="object 4" descr=""/>
          <p:cNvSpPr txBox="1"/>
          <p:nvPr/>
        </p:nvSpPr>
        <p:spPr>
          <a:xfrm>
            <a:off x="3912412" y="1974519"/>
            <a:ext cx="4745355" cy="1534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Gain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hands-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on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experience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in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healthcare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engineering: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build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cloud-native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pipelines,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apply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validation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&amp;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ETL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best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practices,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contribute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to</a:t>
            </a:r>
            <a:r>
              <a:rPr dirty="0" sz="1100" spc="50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POCs</a:t>
            </a:r>
            <a:r>
              <a:rPr dirty="0" sz="1100" spc="-4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that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solve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real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business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problems.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Practical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cloud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processing 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(AWS)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End-to-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end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pipeline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development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(ETL/ELT)</a:t>
            </a:r>
            <a:endParaRPr sz="11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Exposure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to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AI/LLM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integrations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operational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knowledge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642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/>
              <a:t>Onboarding</a:t>
            </a:r>
            <a:r>
              <a:rPr dirty="0" sz="2200" spc="-30"/>
              <a:t> </a:t>
            </a:r>
            <a:r>
              <a:rPr dirty="0" sz="2200"/>
              <a:t>&amp;</a:t>
            </a:r>
            <a:r>
              <a:rPr dirty="0" sz="2200" spc="-30"/>
              <a:t> </a:t>
            </a:r>
            <a:r>
              <a:rPr dirty="0" sz="2200" spc="-10"/>
              <a:t>Training</a:t>
            </a:r>
            <a:endParaRPr sz="2200"/>
          </a:p>
        </p:txBody>
      </p:sp>
      <p:grpSp>
        <p:nvGrpSpPr>
          <p:cNvPr id="4" name="object 4" descr=""/>
          <p:cNvGrpSpPr/>
          <p:nvPr/>
        </p:nvGrpSpPr>
        <p:grpSpPr>
          <a:xfrm>
            <a:off x="493737" y="1195387"/>
            <a:ext cx="2295525" cy="1511935"/>
            <a:chOff x="493737" y="1195387"/>
            <a:chExt cx="2295525" cy="1511935"/>
          </a:xfrm>
        </p:grpSpPr>
        <p:sp>
          <p:nvSpPr>
            <p:cNvPr id="5" name="object 5" descr=""/>
            <p:cNvSpPr/>
            <p:nvPr/>
          </p:nvSpPr>
          <p:spPr>
            <a:xfrm>
              <a:off x="496119" y="1197768"/>
              <a:ext cx="2291080" cy="1506855"/>
            </a:xfrm>
            <a:custGeom>
              <a:avLst/>
              <a:gdLst/>
              <a:ahLst/>
              <a:cxnLst/>
              <a:rect l="l" t="t" r="r" b="b"/>
              <a:pathLst>
                <a:path w="2291080" h="1506855">
                  <a:moveTo>
                    <a:pt x="2230920" y="0"/>
                  </a:moveTo>
                  <a:lnTo>
                    <a:pt x="59549" y="0"/>
                  </a:lnTo>
                  <a:lnTo>
                    <a:pt x="36462" y="4711"/>
                  </a:lnTo>
                  <a:lnTo>
                    <a:pt x="17524" y="17526"/>
                  </a:lnTo>
                  <a:lnTo>
                    <a:pt x="4710" y="36465"/>
                  </a:lnTo>
                  <a:lnTo>
                    <a:pt x="0" y="59550"/>
                  </a:lnTo>
                  <a:lnTo>
                    <a:pt x="0" y="1447266"/>
                  </a:lnTo>
                  <a:lnTo>
                    <a:pt x="4710" y="1470349"/>
                  </a:lnTo>
                  <a:lnTo>
                    <a:pt x="17524" y="1489284"/>
                  </a:lnTo>
                  <a:lnTo>
                    <a:pt x="36462" y="1502094"/>
                  </a:lnTo>
                  <a:lnTo>
                    <a:pt x="59549" y="1506804"/>
                  </a:lnTo>
                  <a:lnTo>
                    <a:pt x="2230920" y="1506804"/>
                  </a:lnTo>
                  <a:lnTo>
                    <a:pt x="2254005" y="1502094"/>
                  </a:lnTo>
                  <a:lnTo>
                    <a:pt x="2272944" y="1489284"/>
                  </a:lnTo>
                  <a:lnTo>
                    <a:pt x="2285759" y="1470349"/>
                  </a:lnTo>
                  <a:lnTo>
                    <a:pt x="2290470" y="1447266"/>
                  </a:lnTo>
                  <a:lnTo>
                    <a:pt x="2290470" y="59550"/>
                  </a:lnTo>
                  <a:lnTo>
                    <a:pt x="2285759" y="36465"/>
                  </a:lnTo>
                  <a:lnTo>
                    <a:pt x="2272944" y="17526"/>
                  </a:lnTo>
                  <a:lnTo>
                    <a:pt x="2254005" y="4711"/>
                  </a:lnTo>
                  <a:lnTo>
                    <a:pt x="2230920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6119" y="1197768"/>
              <a:ext cx="2291080" cy="1506855"/>
            </a:xfrm>
            <a:custGeom>
              <a:avLst/>
              <a:gdLst/>
              <a:ahLst/>
              <a:cxnLst/>
              <a:rect l="l" t="t" r="r" b="b"/>
              <a:pathLst>
                <a:path w="2291080" h="1506855">
                  <a:moveTo>
                    <a:pt x="0" y="59550"/>
                  </a:moveTo>
                  <a:lnTo>
                    <a:pt x="4710" y="36465"/>
                  </a:lnTo>
                  <a:lnTo>
                    <a:pt x="17524" y="17526"/>
                  </a:lnTo>
                  <a:lnTo>
                    <a:pt x="36462" y="4711"/>
                  </a:lnTo>
                  <a:lnTo>
                    <a:pt x="59549" y="0"/>
                  </a:lnTo>
                  <a:lnTo>
                    <a:pt x="2230920" y="0"/>
                  </a:lnTo>
                  <a:lnTo>
                    <a:pt x="2254005" y="4711"/>
                  </a:lnTo>
                  <a:lnTo>
                    <a:pt x="2272944" y="17525"/>
                  </a:lnTo>
                  <a:lnTo>
                    <a:pt x="2285759" y="36465"/>
                  </a:lnTo>
                  <a:lnTo>
                    <a:pt x="2290470" y="59550"/>
                  </a:lnTo>
                  <a:lnTo>
                    <a:pt x="2290470" y="1447266"/>
                  </a:lnTo>
                  <a:lnTo>
                    <a:pt x="2285759" y="1470349"/>
                  </a:lnTo>
                  <a:lnTo>
                    <a:pt x="2272944" y="1489284"/>
                  </a:lnTo>
                  <a:lnTo>
                    <a:pt x="2254005" y="1502094"/>
                  </a:lnTo>
                  <a:lnTo>
                    <a:pt x="2230920" y="1506804"/>
                  </a:lnTo>
                  <a:lnTo>
                    <a:pt x="59549" y="1506804"/>
                  </a:lnTo>
                  <a:lnTo>
                    <a:pt x="36462" y="1502094"/>
                  </a:lnTo>
                  <a:lnTo>
                    <a:pt x="17524" y="1489284"/>
                  </a:lnTo>
                  <a:lnTo>
                    <a:pt x="4710" y="1470349"/>
                  </a:lnTo>
                  <a:lnTo>
                    <a:pt x="0" y="1447266"/>
                  </a:lnTo>
                  <a:lnTo>
                    <a:pt x="0" y="59550"/>
                  </a:lnTo>
                  <a:close/>
                </a:path>
              </a:pathLst>
            </a:custGeom>
            <a:ln w="4762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29940" y="1327962"/>
            <a:ext cx="1833880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2C3148"/>
                </a:solidFill>
                <a:latin typeface="Arial"/>
                <a:cs typeface="Arial"/>
              </a:rPr>
              <a:t>Domain</a:t>
            </a:r>
            <a:r>
              <a:rPr dirty="0" sz="13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C3148"/>
                </a:solidFill>
                <a:latin typeface="Arial"/>
                <a:cs typeface="Arial"/>
              </a:rPr>
              <a:t>&amp;</a:t>
            </a:r>
            <a:r>
              <a:rPr dirty="0" sz="1350" spc="-10">
                <a:solidFill>
                  <a:srgbClr val="2C3148"/>
                </a:solidFill>
                <a:latin typeface="Arial"/>
                <a:cs typeface="Arial"/>
              </a:rPr>
              <a:t> Tools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Healthcare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domain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induction,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Python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engineering,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PySpark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fundamentals.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925959" y="1195387"/>
            <a:ext cx="2295525" cy="1511935"/>
            <a:chOff x="2925959" y="1195387"/>
            <a:chExt cx="2295525" cy="1511935"/>
          </a:xfrm>
        </p:grpSpPr>
        <p:sp>
          <p:nvSpPr>
            <p:cNvPr id="9" name="object 9" descr=""/>
            <p:cNvSpPr/>
            <p:nvPr/>
          </p:nvSpPr>
          <p:spPr>
            <a:xfrm>
              <a:off x="2928340" y="1197768"/>
              <a:ext cx="2291080" cy="1506855"/>
            </a:xfrm>
            <a:custGeom>
              <a:avLst/>
              <a:gdLst/>
              <a:ahLst/>
              <a:cxnLst/>
              <a:rect l="l" t="t" r="r" b="b"/>
              <a:pathLst>
                <a:path w="2291079" h="1506855">
                  <a:moveTo>
                    <a:pt x="2230983" y="0"/>
                  </a:moveTo>
                  <a:lnTo>
                    <a:pt x="59549" y="0"/>
                  </a:lnTo>
                  <a:lnTo>
                    <a:pt x="36462" y="4711"/>
                  </a:lnTo>
                  <a:lnTo>
                    <a:pt x="17524" y="17526"/>
                  </a:lnTo>
                  <a:lnTo>
                    <a:pt x="4710" y="36465"/>
                  </a:lnTo>
                  <a:lnTo>
                    <a:pt x="0" y="59550"/>
                  </a:lnTo>
                  <a:lnTo>
                    <a:pt x="0" y="1447266"/>
                  </a:lnTo>
                  <a:lnTo>
                    <a:pt x="4710" y="1470349"/>
                  </a:lnTo>
                  <a:lnTo>
                    <a:pt x="17524" y="1489284"/>
                  </a:lnTo>
                  <a:lnTo>
                    <a:pt x="36462" y="1502094"/>
                  </a:lnTo>
                  <a:lnTo>
                    <a:pt x="59549" y="1506804"/>
                  </a:lnTo>
                  <a:lnTo>
                    <a:pt x="2230983" y="1506804"/>
                  </a:lnTo>
                  <a:lnTo>
                    <a:pt x="2254073" y="1502094"/>
                  </a:lnTo>
                  <a:lnTo>
                    <a:pt x="2273012" y="1489284"/>
                  </a:lnTo>
                  <a:lnTo>
                    <a:pt x="2285824" y="1470349"/>
                  </a:lnTo>
                  <a:lnTo>
                    <a:pt x="2290533" y="1447266"/>
                  </a:lnTo>
                  <a:lnTo>
                    <a:pt x="2290533" y="59550"/>
                  </a:lnTo>
                  <a:lnTo>
                    <a:pt x="2285824" y="36465"/>
                  </a:lnTo>
                  <a:lnTo>
                    <a:pt x="2273012" y="17526"/>
                  </a:lnTo>
                  <a:lnTo>
                    <a:pt x="2254073" y="4711"/>
                  </a:lnTo>
                  <a:lnTo>
                    <a:pt x="2230983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928340" y="1197768"/>
              <a:ext cx="2291080" cy="1506855"/>
            </a:xfrm>
            <a:custGeom>
              <a:avLst/>
              <a:gdLst/>
              <a:ahLst/>
              <a:cxnLst/>
              <a:rect l="l" t="t" r="r" b="b"/>
              <a:pathLst>
                <a:path w="2291079" h="1506855">
                  <a:moveTo>
                    <a:pt x="0" y="59550"/>
                  </a:moveTo>
                  <a:lnTo>
                    <a:pt x="4710" y="36465"/>
                  </a:lnTo>
                  <a:lnTo>
                    <a:pt x="17524" y="17526"/>
                  </a:lnTo>
                  <a:lnTo>
                    <a:pt x="36462" y="4711"/>
                  </a:lnTo>
                  <a:lnTo>
                    <a:pt x="59549" y="0"/>
                  </a:lnTo>
                  <a:lnTo>
                    <a:pt x="2230983" y="0"/>
                  </a:lnTo>
                  <a:lnTo>
                    <a:pt x="2254073" y="4711"/>
                  </a:lnTo>
                  <a:lnTo>
                    <a:pt x="2273012" y="17525"/>
                  </a:lnTo>
                  <a:lnTo>
                    <a:pt x="2285824" y="36465"/>
                  </a:lnTo>
                  <a:lnTo>
                    <a:pt x="2290533" y="59550"/>
                  </a:lnTo>
                  <a:lnTo>
                    <a:pt x="2290533" y="1447266"/>
                  </a:lnTo>
                  <a:lnTo>
                    <a:pt x="2285824" y="1470349"/>
                  </a:lnTo>
                  <a:lnTo>
                    <a:pt x="2273012" y="1489284"/>
                  </a:lnTo>
                  <a:lnTo>
                    <a:pt x="2254073" y="1502094"/>
                  </a:lnTo>
                  <a:lnTo>
                    <a:pt x="2230983" y="1506804"/>
                  </a:lnTo>
                  <a:lnTo>
                    <a:pt x="59549" y="1506804"/>
                  </a:lnTo>
                  <a:lnTo>
                    <a:pt x="36462" y="1502094"/>
                  </a:lnTo>
                  <a:lnTo>
                    <a:pt x="17524" y="1489284"/>
                  </a:lnTo>
                  <a:lnTo>
                    <a:pt x="4710" y="1470349"/>
                  </a:lnTo>
                  <a:lnTo>
                    <a:pt x="0" y="1447266"/>
                  </a:lnTo>
                  <a:lnTo>
                    <a:pt x="0" y="59550"/>
                  </a:lnTo>
                  <a:close/>
                </a:path>
              </a:pathLst>
            </a:custGeom>
            <a:ln w="4762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062160" y="1327962"/>
            <a:ext cx="1903730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2C3148"/>
                </a:solidFill>
                <a:latin typeface="Arial"/>
                <a:cs typeface="Arial"/>
              </a:rPr>
              <a:t>AWS</a:t>
            </a:r>
            <a:r>
              <a:rPr dirty="0" sz="135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C3148"/>
                </a:solidFill>
                <a:latin typeface="Arial"/>
                <a:cs typeface="Arial"/>
              </a:rPr>
              <a:t>&amp;</a:t>
            </a:r>
            <a:r>
              <a:rPr dirty="0" sz="135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dirty="0" sz="135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C3148"/>
                </a:solidFill>
                <a:latin typeface="Arial"/>
                <a:cs typeface="Arial"/>
              </a:rPr>
              <a:t>Platforms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S3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lake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patterns,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Athena,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Redshift,</a:t>
            </a:r>
            <a:r>
              <a:rPr dirty="0" sz="1100" spc="-4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Serverless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orchestration,</a:t>
            </a:r>
            <a:r>
              <a:rPr dirty="0" sz="1100" spc="-5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Kinesis</a:t>
            </a:r>
            <a:r>
              <a:rPr dirty="0" sz="1100" spc="-5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basics.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93737" y="2843955"/>
            <a:ext cx="4727575" cy="1058545"/>
            <a:chOff x="493737" y="2843955"/>
            <a:chExt cx="4727575" cy="1058545"/>
          </a:xfrm>
        </p:grpSpPr>
        <p:sp>
          <p:nvSpPr>
            <p:cNvPr id="13" name="object 13" descr=""/>
            <p:cNvSpPr/>
            <p:nvPr/>
          </p:nvSpPr>
          <p:spPr>
            <a:xfrm>
              <a:off x="496119" y="2846336"/>
              <a:ext cx="4723130" cy="1053465"/>
            </a:xfrm>
            <a:custGeom>
              <a:avLst/>
              <a:gdLst/>
              <a:ahLst/>
              <a:cxnLst/>
              <a:rect l="l" t="t" r="r" b="b"/>
              <a:pathLst>
                <a:path w="4723130" h="1053464">
                  <a:moveTo>
                    <a:pt x="4663211" y="0"/>
                  </a:moveTo>
                  <a:lnTo>
                    <a:pt x="59546" y="0"/>
                  </a:lnTo>
                  <a:lnTo>
                    <a:pt x="36461" y="4711"/>
                  </a:lnTo>
                  <a:lnTo>
                    <a:pt x="17523" y="17526"/>
                  </a:lnTo>
                  <a:lnTo>
                    <a:pt x="4710" y="36465"/>
                  </a:lnTo>
                  <a:lnTo>
                    <a:pt x="0" y="59550"/>
                  </a:lnTo>
                  <a:lnTo>
                    <a:pt x="0" y="993635"/>
                  </a:lnTo>
                  <a:lnTo>
                    <a:pt x="4710" y="1016720"/>
                  </a:lnTo>
                  <a:lnTo>
                    <a:pt x="17523" y="1035659"/>
                  </a:lnTo>
                  <a:lnTo>
                    <a:pt x="36461" y="1048474"/>
                  </a:lnTo>
                  <a:lnTo>
                    <a:pt x="59546" y="1053185"/>
                  </a:lnTo>
                  <a:lnTo>
                    <a:pt x="4663211" y="1053185"/>
                  </a:lnTo>
                  <a:lnTo>
                    <a:pt x="4686301" y="1048474"/>
                  </a:lnTo>
                  <a:lnTo>
                    <a:pt x="4705240" y="1035659"/>
                  </a:lnTo>
                  <a:lnTo>
                    <a:pt x="4718052" y="1016720"/>
                  </a:lnTo>
                  <a:lnTo>
                    <a:pt x="4722761" y="993635"/>
                  </a:lnTo>
                  <a:lnTo>
                    <a:pt x="4722761" y="59550"/>
                  </a:lnTo>
                  <a:lnTo>
                    <a:pt x="4718052" y="36465"/>
                  </a:lnTo>
                  <a:lnTo>
                    <a:pt x="4705240" y="17526"/>
                  </a:lnTo>
                  <a:lnTo>
                    <a:pt x="4686301" y="4711"/>
                  </a:lnTo>
                  <a:lnTo>
                    <a:pt x="4663211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96119" y="2846336"/>
              <a:ext cx="4723130" cy="1053465"/>
            </a:xfrm>
            <a:custGeom>
              <a:avLst/>
              <a:gdLst/>
              <a:ahLst/>
              <a:cxnLst/>
              <a:rect l="l" t="t" r="r" b="b"/>
              <a:pathLst>
                <a:path w="4723130" h="1053464">
                  <a:moveTo>
                    <a:pt x="0" y="59550"/>
                  </a:moveTo>
                  <a:lnTo>
                    <a:pt x="4710" y="36465"/>
                  </a:lnTo>
                  <a:lnTo>
                    <a:pt x="17523" y="17526"/>
                  </a:lnTo>
                  <a:lnTo>
                    <a:pt x="36461" y="4711"/>
                  </a:lnTo>
                  <a:lnTo>
                    <a:pt x="59546" y="0"/>
                  </a:lnTo>
                  <a:lnTo>
                    <a:pt x="4663211" y="0"/>
                  </a:lnTo>
                  <a:lnTo>
                    <a:pt x="4686301" y="4711"/>
                  </a:lnTo>
                  <a:lnTo>
                    <a:pt x="4705240" y="17525"/>
                  </a:lnTo>
                  <a:lnTo>
                    <a:pt x="4718052" y="36465"/>
                  </a:lnTo>
                  <a:lnTo>
                    <a:pt x="4722761" y="59550"/>
                  </a:lnTo>
                  <a:lnTo>
                    <a:pt x="4722761" y="993635"/>
                  </a:lnTo>
                  <a:lnTo>
                    <a:pt x="4718052" y="1016720"/>
                  </a:lnTo>
                  <a:lnTo>
                    <a:pt x="4705240" y="1035659"/>
                  </a:lnTo>
                  <a:lnTo>
                    <a:pt x="4686301" y="1048474"/>
                  </a:lnTo>
                  <a:lnTo>
                    <a:pt x="4663211" y="1053185"/>
                  </a:lnTo>
                  <a:lnTo>
                    <a:pt x="59546" y="1053185"/>
                  </a:lnTo>
                  <a:lnTo>
                    <a:pt x="36461" y="1048474"/>
                  </a:lnTo>
                  <a:lnTo>
                    <a:pt x="17523" y="1035659"/>
                  </a:lnTo>
                  <a:lnTo>
                    <a:pt x="4710" y="1016720"/>
                  </a:lnTo>
                  <a:lnTo>
                    <a:pt x="0" y="993635"/>
                  </a:lnTo>
                  <a:lnTo>
                    <a:pt x="0" y="59550"/>
                  </a:lnTo>
                  <a:close/>
                </a:path>
              </a:pathLst>
            </a:custGeom>
            <a:ln w="4762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83419" y="2976524"/>
            <a:ext cx="4504055" cy="1483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2C3148"/>
                </a:solidFill>
                <a:latin typeface="Arial"/>
                <a:cs typeface="Arial"/>
              </a:rPr>
              <a:t>Modern</a:t>
            </a:r>
            <a:r>
              <a:rPr dirty="0" sz="135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C3148"/>
                </a:solidFill>
                <a:latin typeface="Arial"/>
                <a:cs typeface="Arial"/>
              </a:rPr>
              <a:t>Stack</a:t>
            </a:r>
            <a:endParaRPr sz="1350">
              <a:latin typeface="Arial"/>
              <a:cs typeface="Arial"/>
            </a:endParaRPr>
          </a:p>
          <a:p>
            <a:pPr marL="158750" marR="511809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DBT,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Snowflake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concepts,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SQL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best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practices,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CI/CD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data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engineering.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</a:pP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Daily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hands-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on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sessions,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assignments,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continuous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mentor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feedback accelerated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learning.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419" y="1245168"/>
            <a:ext cx="3921125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/>
              <a:t>Team</a:t>
            </a:r>
            <a:r>
              <a:rPr dirty="0" sz="2200" spc="-50"/>
              <a:t> </a:t>
            </a:r>
            <a:r>
              <a:rPr dirty="0" sz="2200"/>
              <a:t>Structure</a:t>
            </a:r>
            <a:r>
              <a:rPr dirty="0" sz="2200" spc="-45"/>
              <a:t> </a:t>
            </a:r>
            <a:r>
              <a:rPr dirty="0" sz="2200"/>
              <a:t>&amp;</a:t>
            </a:r>
            <a:r>
              <a:rPr dirty="0" sz="2200" spc="-50"/>
              <a:t> </a:t>
            </a:r>
            <a:r>
              <a:rPr dirty="0" sz="2200"/>
              <a:t>Work</a:t>
            </a:r>
            <a:r>
              <a:rPr dirty="0" sz="2200" spc="-45"/>
              <a:t> </a:t>
            </a:r>
            <a:r>
              <a:rPr dirty="0" sz="2200" spc="-10"/>
              <a:t>Culture</a:t>
            </a:r>
            <a:endParaRPr sz="2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9" y="1990204"/>
            <a:ext cx="3053130" cy="1730057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/>
              <a:t>Arcadia</a:t>
            </a:r>
            <a:r>
              <a:rPr dirty="0" spc="-30"/>
              <a:t> </a:t>
            </a:r>
            <a:r>
              <a:rPr dirty="0"/>
              <a:t>Data</a:t>
            </a:r>
            <a:r>
              <a:rPr dirty="0" spc="-30"/>
              <a:t> </a:t>
            </a:r>
            <a:r>
              <a:rPr dirty="0"/>
              <a:t>Management:</a:t>
            </a:r>
            <a:r>
              <a:rPr dirty="0" spc="-30"/>
              <a:t> </a:t>
            </a:r>
            <a:r>
              <a:rPr dirty="0" spc="-10"/>
              <a:t>cross-</a:t>
            </a:r>
            <a:r>
              <a:rPr dirty="0"/>
              <a:t>functional</a:t>
            </a:r>
            <a:r>
              <a:rPr dirty="0" spc="-25"/>
              <a:t> </a:t>
            </a:r>
            <a:r>
              <a:rPr dirty="0"/>
              <a:t>team</a:t>
            </a:r>
            <a:r>
              <a:rPr dirty="0" spc="-30"/>
              <a:t> </a:t>
            </a:r>
            <a:r>
              <a:rPr dirty="0"/>
              <a:t>with</a:t>
            </a:r>
            <a:r>
              <a:rPr dirty="0" spc="-30"/>
              <a:t> </a:t>
            </a:r>
            <a:r>
              <a:rPr dirty="0" spc="-10"/>
              <a:t>assigned</a:t>
            </a:r>
            <a:r>
              <a:rPr dirty="0" spc="-25"/>
              <a:t> </a:t>
            </a:r>
            <a:r>
              <a:rPr dirty="0" spc="-10"/>
              <a:t>managers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mentors.</a:t>
            </a:r>
            <a:r>
              <a:rPr dirty="0" spc="-25"/>
              <a:t> </a:t>
            </a:r>
            <a:r>
              <a:rPr dirty="0"/>
              <a:t>Cadence</a:t>
            </a:r>
            <a:r>
              <a:rPr dirty="0" spc="-20"/>
              <a:t> </a:t>
            </a:r>
            <a:r>
              <a:rPr dirty="0" spc="-10"/>
              <a:t>included</a:t>
            </a:r>
            <a:r>
              <a:rPr dirty="0" spc="-25"/>
              <a:t> </a:t>
            </a:r>
            <a:r>
              <a:rPr dirty="0"/>
              <a:t>daily</a:t>
            </a:r>
            <a:r>
              <a:rPr dirty="0" spc="-20"/>
              <a:t> </a:t>
            </a:r>
            <a:r>
              <a:rPr dirty="0" spc="-10"/>
              <a:t>stand-</a:t>
            </a:r>
            <a:r>
              <a:rPr dirty="0"/>
              <a:t>ups,</a:t>
            </a:r>
            <a:r>
              <a:rPr dirty="0" spc="-25"/>
              <a:t> </a:t>
            </a:r>
            <a:r>
              <a:rPr dirty="0"/>
              <a:t>task</a:t>
            </a:r>
            <a:r>
              <a:rPr dirty="0" spc="-20"/>
              <a:t> </a:t>
            </a:r>
            <a:r>
              <a:rPr dirty="0"/>
              <a:t>tracking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10"/>
              <a:t>design reviews.</a:t>
            </a:r>
          </a:p>
          <a:p>
            <a:pPr>
              <a:lnSpc>
                <a:spcPct val="100000"/>
              </a:lnSpc>
              <a:spcBef>
                <a:spcPts val="265"/>
              </a:spcBef>
            </a:p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/>
              <a:t>Agile</a:t>
            </a:r>
            <a:r>
              <a:rPr dirty="0" spc="-30"/>
              <a:t> </a:t>
            </a:r>
            <a:r>
              <a:rPr dirty="0"/>
              <a:t>methodology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sprint-</a:t>
            </a:r>
            <a:r>
              <a:rPr dirty="0"/>
              <a:t>based</a:t>
            </a:r>
            <a:r>
              <a:rPr dirty="0" spc="-30"/>
              <a:t> </a:t>
            </a:r>
            <a:r>
              <a:rPr dirty="0" spc="-10"/>
              <a:t>delivery</a:t>
            </a: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/>
              <a:t>Close</a:t>
            </a:r>
            <a:r>
              <a:rPr dirty="0" spc="-30"/>
              <a:t> </a:t>
            </a:r>
            <a:r>
              <a:rPr dirty="0" spc="-10"/>
              <a:t>collaboration</a:t>
            </a:r>
            <a:r>
              <a:rPr dirty="0" spc="-30"/>
              <a:t> </a:t>
            </a:r>
            <a:r>
              <a:rPr dirty="0"/>
              <a:t>with</a:t>
            </a:r>
            <a:r>
              <a:rPr dirty="0" spc="-30"/>
              <a:t> </a:t>
            </a:r>
            <a:r>
              <a:rPr dirty="0"/>
              <a:t>Data</a:t>
            </a:r>
            <a:r>
              <a:rPr dirty="0" spc="-25"/>
              <a:t> </a:t>
            </a:r>
            <a:r>
              <a:rPr dirty="0"/>
              <a:t>Engineers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 spc="-10"/>
              <a:t>Architects</a:t>
            </a: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har char="•"/>
              <a:tabLst>
                <a:tab pos="354965" algn="l"/>
              </a:tabLst>
            </a:pPr>
            <a:r>
              <a:rPr dirty="0"/>
              <a:t>Emphasis</a:t>
            </a:r>
            <a:r>
              <a:rPr dirty="0" spc="-20"/>
              <a:t> </a:t>
            </a:r>
            <a:r>
              <a:rPr dirty="0"/>
              <a:t>on</a:t>
            </a:r>
            <a:r>
              <a:rPr dirty="0" spc="-20"/>
              <a:t> </a:t>
            </a:r>
            <a:r>
              <a:rPr dirty="0"/>
              <a:t>clear</a:t>
            </a:r>
            <a:r>
              <a:rPr dirty="0" spc="-20"/>
              <a:t> </a:t>
            </a:r>
            <a:r>
              <a:rPr dirty="0"/>
              <a:t>requirements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10"/>
              <a:t>professional</a:t>
            </a:r>
            <a:r>
              <a:rPr dirty="0" spc="-20"/>
              <a:t> </a:t>
            </a:r>
            <a:r>
              <a:rPr dirty="0" spc="-10"/>
              <a:t>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419" y="1638820"/>
            <a:ext cx="3611879" cy="70993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85"/>
              </a:spcBef>
            </a:pPr>
            <a:r>
              <a:rPr dirty="0" sz="2200"/>
              <a:t>Healthcare</a:t>
            </a:r>
            <a:r>
              <a:rPr dirty="0" sz="2200" spc="-105"/>
              <a:t> </a:t>
            </a:r>
            <a:r>
              <a:rPr dirty="0" sz="2200"/>
              <a:t>Data</a:t>
            </a:r>
            <a:r>
              <a:rPr dirty="0" sz="2200" spc="-100"/>
              <a:t> </a:t>
            </a:r>
            <a:r>
              <a:rPr dirty="0" sz="2200" spc="-10"/>
              <a:t>Engineering Architecture</a:t>
            </a:r>
            <a:endParaRPr sz="2200"/>
          </a:p>
        </p:txBody>
      </p:sp>
      <p:sp>
        <p:nvSpPr>
          <p:cNvPr id="4" name="object 4" descr=""/>
          <p:cNvSpPr txBox="1"/>
          <p:nvPr/>
        </p:nvSpPr>
        <p:spPr>
          <a:xfrm>
            <a:off x="483419" y="2507767"/>
            <a:ext cx="4727575" cy="694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Orchestration:</a:t>
            </a:r>
            <a:r>
              <a:rPr dirty="0" sz="1100" spc="-4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AWS</a:t>
            </a:r>
            <a:r>
              <a:rPr dirty="0" sz="1100" spc="-4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Step</a:t>
            </a:r>
            <a:r>
              <a:rPr dirty="0" sz="1100" spc="-4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Functions.</a:t>
            </a:r>
            <a:r>
              <a:rPr dirty="0" sz="1100" spc="-4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Technologies</a:t>
            </a:r>
            <a:r>
              <a:rPr dirty="0" sz="1100" spc="-4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used:</a:t>
            </a:r>
            <a:r>
              <a:rPr dirty="0" sz="1100" spc="-4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S3,</a:t>
            </a:r>
            <a:r>
              <a:rPr dirty="0" sz="1100" spc="-4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Kinesis,</a:t>
            </a:r>
            <a:r>
              <a:rPr dirty="0" sz="1100" spc="-4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Glue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(PySpark),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Redshift,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Athena,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Step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Functions,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SQL.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This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architecture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supports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high-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throughput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ingestion,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scalable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ETL,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analytic-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ready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tables.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12412" y="797270"/>
            <a:ext cx="4838065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/>
              <a:t>Work</a:t>
            </a:r>
            <a:r>
              <a:rPr dirty="0" sz="2200" spc="-50"/>
              <a:t> </a:t>
            </a:r>
            <a:r>
              <a:rPr dirty="0" sz="2200"/>
              <a:t>In</a:t>
            </a:r>
            <a:r>
              <a:rPr dirty="0" sz="2200" spc="-50"/>
              <a:t> </a:t>
            </a:r>
            <a:r>
              <a:rPr dirty="0" sz="2200"/>
              <a:t>Progress</a:t>
            </a:r>
            <a:r>
              <a:rPr dirty="0" sz="2200" spc="-45"/>
              <a:t> </a:t>
            </a:r>
            <a:r>
              <a:rPr dirty="0" sz="2200"/>
              <a:t>—</a:t>
            </a:r>
            <a:r>
              <a:rPr dirty="0" sz="2200" spc="-50"/>
              <a:t> </a:t>
            </a:r>
            <a:r>
              <a:rPr dirty="0" sz="2200"/>
              <a:t>Validation</a:t>
            </a:r>
            <a:r>
              <a:rPr dirty="0" sz="2200" spc="-45"/>
              <a:t> </a:t>
            </a:r>
            <a:r>
              <a:rPr dirty="0" sz="2200" spc="-10"/>
              <a:t>Module</a:t>
            </a:r>
            <a:endParaRPr sz="2200"/>
          </a:p>
        </p:txBody>
      </p:sp>
      <p:sp>
        <p:nvSpPr>
          <p:cNvPr id="4" name="object 4" descr=""/>
          <p:cNvSpPr txBox="1"/>
          <p:nvPr/>
        </p:nvSpPr>
        <p:spPr>
          <a:xfrm>
            <a:off x="3912412" y="1311859"/>
            <a:ext cx="4404360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Contributed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to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WIP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stage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of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pipeline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focusing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on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customer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data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validation.</a:t>
            </a:r>
            <a:r>
              <a:rPr dirty="0" sz="1100" spc="4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Responsibilities</a:t>
            </a:r>
            <a:r>
              <a:rPr dirty="0" sz="1100" spc="4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included: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12412" y="2649156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2C3148"/>
                </a:solidFill>
                <a:latin typeface="Arial"/>
                <a:cs typeface="Arial"/>
              </a:rPr>
              <a:t>•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912412" y="1924951"/>
            <a:ext cx="4589780" cy="114046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5"/>
              </a:spcBef>
              <a:buChar char="•"/>
              <a:tabLst>
                <a:tab pos="354965" algn="l"/>
              </a:tabLst>
            </a:pP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Designing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Python-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based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validation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 scripts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and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rules</a:t>
            </a:r>
            <a:endParaRPr sz="1100">
              <a:latin typeface="Arial"/>
              <a:cs typeface="Arial"/>
            </a:endParaRPr>
          </a:p>
          <a:p>
            <a:pPr marL="355600" marR="5080" indent="-342900">
              <a:lnSpc>
                <a:spcPct val="133000"/>
              </a:lnSpc>
              <a:buChar char="•"/>
              <a:tabLst>
                <a:tab pos="355600" algn="l"/>
              </a:tabLst>
            </a:pP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Implementing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quality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checks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(missing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fields,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schema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validation,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range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checks)</a:t>
            </a:r>
            <a:endParaRPr sz="1100">
              <a:latin typeface="Arial"/>
              <a:cs typeface="Arial"/>
            </a:endParaRPr>
          </a:p>
          <a:p>
            <a:pPr marL="355600" marR="578485">
              <a:lnSpc>
                <a:spcPct val="133000"/>
              </a:lnSpc>
            </a:pP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Flagging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classifying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incorrect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or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incomplete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records</a:t>
            </a:r>
            <a:r>
              <a:rPr dirty="0" sz="110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for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downstream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handling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925112" y="3388588"/>
            <a:ext cx="4723130" cy="779780"/>
            <a:chOff x="3925112" y="3388588"/>
            <a:chExt cx="4723130" cy="779780"/>
          </a:xfrm>
        </p:grpSpPr>
        <p:sp>
          <p:nvSpPr>
            <p:cNvPr id="8" name="object 8" descr=""/>
            <p:cNvSpPr/>
            <p:nvPr/>
          </p:nvSpPr>
          <p:spPr>
            <a:xfrm>
              <a:off x="3925112" y="3388588"/>
              <a:ext cx="4723130" cy="779780"/>
            </a:xfrm>
            <a:custGeom>
              <a:avLst/>
              <a:gdLst/>
              <a:ahLst/>
              <a:cxnLst/>
              <a:rect l="l" t="t" r="r" b="b"/>
              <a:pathLst>
                <a:path w="4723130" h="779779">
                  <a:moveTo>
                    <a:pt x="4663224" y="0"/>
                  </a:moveTo>
                  <a:lnTo>
                    <a:pt x="59542" y="0"/>
                  </a:lnTo>
                  <a:lnTo>
                    <a:pt x="36458" y="4709"/>
                  </a:lnTo>
                  <a:lnTo>
                    <a:pt x="17522" y="17519"/>
                  </a:lnTo>
                  <a:lnTo>
                    <a:pt x="4710" y="36454"/>
                  </a:lnTo>
                  <a:lnTo>
                    <a:pt x="0" y="59537"/>
                  </a:lnTo>
                  <a:lnTo>
                    <a:pt x="0" y="720013"/>
                  </a:lnTo>
                  <a:lnTo>
                    <a:pt x="4710" y="743098"/>
                  </a:lnTo>
                  <a:lnTo>
                    <a:pt x="17522" y="762038"/>
                  </a:lnTo>
                  <a:lnTo>
                    <a:pt x="36458" y="774852"/>
                  </a:lnTo>
                  <a:lnTo>
                    <a:pt x="59542" y="779564"/>
                  </a:lnTo>
                  <a:lnTo>
                    <a:pt x="4663224" y="779564"/>
                  </a:lnTo>
                  <a:lnTo>
                    <a:pt x="4686307" y="774852"/>
                  </a:lnTo>
                  <a:lnTo>
                    <a:pt x="4705242" y="762038"/>
                  </a:lnTo>
                  <a:lnTo>
                    <a:pt x="4718052" y="743098"/>
                  </a:lnTo>
                  <a:lnTo>
                    <a:pt x="4722761" y="720013"/>
                  </a:lnTo>
                  <a:lnTo>
                    <a:pt x="4722761" y="59537"/>
                  </a:lnTo>
                  <a:lnTo>
                    <a:pt x="4718052" y="36454"/>
                  </a:lnTo>
                  <a:lnTo>
                    <a:pt x="4705242" y="17519"/>
                  </a:lnTo>
                  <a:lnTo>
                    <a:pt x="4686307" y="4709"/>
                  </a:lnTo>
                  <a:lnTo>
                    <a:pt x="4663224" y="0"/>
                  </a:lnTo>
                  <a:close/>
                </a:path>
              </a:pathLst>
            </a:custGeom>
            <a:solidFill>
              <a:srgbClr val="B6FB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6882" y="3589362"/>
              <a:ext cx="177180" cy="141757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4373117" y="3480574"/>
            <a:ext cx="3619500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Impact: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Increased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reliability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of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downstream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processes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and </a:t>
            </a:r>
            <a:r>
              <a:rPr dirty="0" sz="1100">
                <a:latin typeface="Arial"/>
                <a:cs typeface="Arial"/>
              </a:rPr>
              <a:t>reduced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data-</a:t>
            </a:r>
            <a:r>
              <a:rPr dirty="0" sz="1100">
                <a:latin typeface="Arial"/>
                <a:cs typeface="Arial"/>
              </a:rPr>
              <a:t>quality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incidents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entering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analytics.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/>
              <a:t>Proof</a:t>
            </a:r>
            <a:r>
              <a:rPr dirty="0" sz="2100" spc="-15"/>
              <a:t> </a:t>
            </a:r>
            <a:r>
              <a:rPr dirty="0" sz="2100"/>
              <a:t>of</a:t>
            </a:r>
            <a:r>
              <a:rPr dirty="0" sz="2100" spc="-15"/>
              <a:t> </a:t>
            </a:r>
            <a:r>
              <a:rPr dirty="0" sz="2100"/>
              <a:t>Concept</a:t>
            </a:r>
            <a:r>
              <a:rPr dirty="0" sz="2100" spc="-15"/>
              <a:t> </a:t>
            </a:r>
            <a:r>
              <a:rPr dirty="0" sz="2100"/>
              <a:t>—</a:t>
            </a:r>
            <a:r>
              <a:rPr dirty="0" sz="2100" spc="-10"/>
              <a:t> AI-</a:t>
            </a:r>
            <a:r>
              <a:rPr dirty="0" sz="2100"/>
              <a:t>powered</a:t>
            </a:r>
            <a:r>
              <a:rPr dirty="0" sz="2100" spc="-15"/>
              <a:t> </a:t>
            </a:r>
            <a:r>
              <a:rPr dirty="0" sz="2100"/>
              <a:t>RAG</a:t>
            </a:r>
            <a:r>
              <a:rPr dirty="0" sz="2100" spc="-15"/>
              <a:t> </a:t>
            </a:r>
            <a:r>
              <a:rPr dirty="0" sz="2100" spc="-10"/>
              <a:t>Solution</a:t>
            </a:r>
            <a:endParaRPr sz="2100"/>
          </a:p>
        </p:txBody>
      </p:sp>
      <p:sp>
        <p:nvSpPr>
          <p:cNvPr id="3" name="object 3" descr=""/>
          <p:cNvSpPr txBox="1"/>
          <p:nvPr/>
        </p:nvSpPr>
        <p:spPr>
          <a:xfrm>
            <a:off x="483419" y="1029468"/>
            <a:ext cx="2463800" cy="857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Objective: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Build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a</a:t>
            </a:r>
            <a:r>
              <a:rPr dirty="0" sz="1050" spc="-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Retrieval-Augmented Generation</a:t>
            </a:r>
            <a:r>
              <a:rPr dirty="0" sz="105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system</a:t>
            </a:r>
            <a:r>
              <a:rPr dirty="0" sz="10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to</a:t>
            </a:r>
            <a:r>
              <a:rPr dirty="0" sz="10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surface</a:t>
            </a:r>
            <a:r>
              <a:rPr dirty="0" sz="105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operational knowledge</a:t>
            </a:r>
            <a:r>
              <a:rPr dirty="0" sz="10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quickly</a:t>
            </a:r>
            <a:r>
              <a:rPr dirty="0" sz="10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from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logs</a:t>
            </a:r>
            <a:r>
              <a:rPr dirty="0" sz="10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C3148"/>
                </a:solidFill>
                <a:latin typeface="Arial"/>
                <a:cs typeface="Arial"/>
              </a:rPr>
              <a:t>and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documentation.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419" y="2453843"/>
            <a:ext cx="723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2C3148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3419" y="2869895"/>
            <a:ext cx="723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2C3148"/>
                </a:solidFill>
                <a:latin typeface="Arial"/>
                <a:cs typeface="Arial"/>
              </a:rPr>
              <a:t>•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83419" y="1989785"/>
            <a:ext cx="2650490" cy="1482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75945" indent="-342900">
              <a:lnSpc>
                <a:spcPct val="13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Ingested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sources: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 AWS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logs, Confluence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pages</a:t>
            </a:r>
            <a:endParaRPr sz="1050">
              <a:latin typeface="Arial"/>
              <a:cs typeface="Arial"/>
            </a:endParaRPr>
          </a:p>
          <a:p>
            <a:pPr marL="355600" marR="5080">
              <a:lnSpc>
                <a:spcPct val="130000"/>
              </a:lnSpc>
            </a:pP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Pipeline:</a:t>
            </a:r>
            <a:r>
              <a:rPr dirty="0" sz="105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chunking</a:t>
            </a:r>
            <a:r>
              <a:rPr dirty="0" sz="105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→</a:t>
            </a:r>
            <a:r>
              <a:rPr dirty="0" sz="105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embeddings</a:t>
            </a:r>
            <a:r>
              <a:rPr dirty="0" sz="105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2C3148"/>
                </a:solidFill>
                <a:latin typeface="Arial"/>
                <a:cs typeface="Arial"/>
              </a:rPr>
              <a:t>→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FAISS</a:t>
            </a:r>
            <a:r>
              <a:rPr dirty="0" sz="105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vector</a:t>
            </a:r>
            <a:r>
              <a:rPr dirty="0" sz="105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store</a:t>
            </a:r>
            <a:r>
              <a:rPr dirty="0" sz="105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→</a:t>
            </a:r>
            <a:r>
              <a:rPr dirty="0" sz="105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retriever</a:t>
            </a:r>
            <a:r>
              <a:rPr dirty="0" sz="105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→</a:t>
            </a:r>
            <a:r>
              <a:rPr dirty="0" sz="105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C3148"/>
                </a:solidFill>
                <a:latin typeface="Arial"/>
                <a:cs typeface="Arial"/>
              </a:rPr>
              <a:t>LLM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Features:</a:t>
            </a:r>
            <a:r>
              <a:rPr dirty="0" sz="105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semantic</a:t>
            </a:r>
            <a:r>
              <a:rPr dirty="0" sz="105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search,</a:t>
            </a:r>
            <a:r>
              <a:rPr dirty="0" sz="105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context-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aware</a:t>
            </a:r>
            <a:r>
              <a:rPr dirty="0" sz="105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retrieval,</a:t>
            </a:r>
            <a:r>
              <a:rPr dirty="0" sz="10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question-answering interface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3419" y="3673475"/>
            <a:ext cx="2604770" cy="857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Technologies:</a:t>
            </a:r>
            <a:r>
              <a:rPr dirty="0" sz="105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Python,</a:t>
            </a:r>
            <a:r>
              <a:rPr dirty="0" sz="10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LangChain,</a:t>
            </a:r>
            <a:r>
              <a:rPr dirty="0" sz="10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FAISS,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LLM</a:t>
            </a:r>
            <a:r>
              <a:rPr dirty="0" sz="105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APIs.</a:t>
            </a:r>
            <a:r>
              <a:rPr dirty="0" sz="105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Outcome:</a:t>
            </a:r>
            <a:r>
              <a:rPr dirty="0" sz="105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Demonstrated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feasibility</a:t>
            </a:r>
            <a:r>
              <a:rPr dirty="0" sz="10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dirty="0" sz="10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received</a:t>
            </a:r>
            <a:r>
              <a:rPr dirty="0" sz="10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leadership</a:t>
            </a:r>
            <a:r>
              <a:rPr dirty="0" sz="105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feedback 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dirty="0" sz="105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next-</a:t>
            </a:r>
            <a:r>
              <a:rPr dirty="0" sz="1050">
                <a:solidFill>
                  <a:srgbClr val="2C3148"/>
                </a:solidFill>
                <a:latin typeface="Arial"/>
                <a:cs typeface="Arial"/>
              </a:rPr>
              <a:t>phase</a:t>
            </a:r>
            <a:r>
              <a:rPr dirty="0" sz="105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C3148"/>
                </a:solidFill>
                <a:latin typeface="Arial"/>
                <a:cs typeface="Arial"/>
              </a:rPr>
              <a:t>integration.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9335" y="1368628"/>
            <a:ext cx="5183238" cy="29371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419" y="1318386"/>
            <a:ext cx="4356100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/>
              <a:t>AI</a:t>
            </a:r>
            <a:r>
              <a:rPr dirty="0" sz="2200" spc="-50"/>
              <a:t> </a:t>
            </a:r>
            <a:r>
              <a:rPr dirty="0" sz="2200"/>
              <a:t>Agent</a:t>
            </a:r>
            <a:r>
              <a:rPr dirty="0" sz="2200" spc="-50"/>
              <a:t> </a:t>
            </a:r>
            <a:r>
              <a:rPr dirty="0" sz="2200"/>
              <a:t>Research</a:t>
            </a:r>
            <a:r>
              <a:rPr dirty="0" sz="2200" spc="-45"/>
              <a:t> </a:t>
            </a:r>
            <a:r>
              <a:rPr dirty="0" sz="2200"/>
              <a:t>&amp;</a:t>
            </a:r>
            <a:r>
              <a:rPr dirty="0" sz="2200" spc="-50"/>
              <a:t> </a:t>
            </a:r>
            <a:r>
              <a:rPr dirty="0" sz="2200" spc="-10"/>
              <a:t>Contributions</a:t>
            </a:r>
            <a:endParaRPr sz="2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119" y="1974875"/>
            <a:ext cx="1156246" cy="144527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816849" y="1958543"/>
            <a:ext cx="2588260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2C3148"/>
                </a:solidFill>
                <a:latin typeface="Arial"/>
                <a:cs typeface="Arial"/>
              </a:rPr>
              <a:t>Use-</a:t>
            </a:r>
            <a:r>
              <a:rPr dirty="0" sz="1350">
                <a:solidFill>
                  <a:srgbClr val="2C3148"/>
                </a:solidFill>
                <a:latin typeface="Arial"/>
                <a:cs typeface="Arial"/>
              </a:rPr>
              <a:t>case</a:t>
            </a:r>
            <a:r>
              <a:rPr dirty="0" sz="1350" spc="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C3148"/>
                </a:solidFill>
                <a:latin typeface="Arial"/>
                <a:cs typeface="Arial"/>
              </a:rPr>
              <a:t>exploration</a:t>
            </a:r>
            <a:endParaRPr sz="1350">
              <a:latin typeface="Arial"/>
              <a:cs typeface="Arial"/>
            </a:endParaRPr>
          </a:p>
          <a:p>
            <a:pPr algn="just"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Mapped</a:t>
            </a:r>
            <a:r>
              <a:rPr dirty="0" sz="1100" spc="-4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agentic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automation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opportunities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for</a:t>
            </a:r>
            <a:r>
              <a:rPr dirty="0" sz="11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routine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operational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tasks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 runbook execution.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0556" y="1974875"/>
            <a:ext cx="1156319" cy="144534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981356" y="1958543"/>
            <a:ext cx="2626995" cy="94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2C3148"/>
                </a:solidFill>
                <a:latin typeface="Arial"/>
                <a:cs typeface="Arial"/>
              </a:rPr>
              <a:t>Knowledge</a:t>
            </a:r>
            <a:r>
              <a:rPr dirty="0" sz="135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C3148"/>
                </a:solidFill>
                <a:latin typeface="Arial"/>
                <a:cs typeface="Arial"/>
              </a:rPr>
              <a:t>transfer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3000"/>
              </a:lnSpc>
              <a:spcBef>
                <a:spcPts val="360"/>
              </a:spcBef>
            </a:pP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Prepared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concise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research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notes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and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walkthroughs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to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help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the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team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understand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Agent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workflows</a:t>
            </a:r>
            <a:r>
              <a:rPr dirty="0" sz="11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dirty="0" sz="11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constraints.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3419" y="3564026"/>
            <a:ext cx="52959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Outcome: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Improved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team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readiness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to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evaluate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agentic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automation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in</a:t>
            </a:r>
            <a:r>
              <a:rPr dirty="0" sz="11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C3148"/>
                </a:solidFill>
                <a:latin typeface="Arial"/>
                <a:cs typeface="Arial"/>
              </a:rPr>
              <a:t>future</a:t>
            </a:r>
            <a:r>
              <a:rPr dirty="0" sz="11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C3148"/>
                </a:solidFill>
                <a:latin typeface="Arial"/>
                <a:cs typeface="Arial"/>
              </a:rPr>
              <a:t>projects.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Skills</a:t>
            </a:r>
            <a:r>
              <a:rPr dirty="0" spc="-10"/>
              <a:t> </a:t>
            </a:r>
            <a:r>
              <a:rPr dirty="0"/>
              <a:t>Gained</a:t>
            </a:r>
            <a:r>
              <a:rPr dirty="0" spc="-10"/>
              <a:t> </a:t>
            </a:r>
            <a:r>
              <a:rPr dirty="0"/>
              <a:t>&amp;</a:t>
            </a:r>
            <a:r>
              <a:rPr dirty="0" spc="-10"/>
              <a:t> </a:t>
            </a:r>
            <a:r>
              <a:rPr dirty="0"/>
              <a:t>Key</a:t>
            </a:r>
            <a:r>
              <a:rPr dirty="0" spc="-10"/>
              <a:t> Takeaways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93737" y="1067246"/>
            <a:ext cx="2207260" cy="1403985"/>
            <a:chOff x="493737" y="1067246"/>
            <a:chExt cx="2207260" cy="1403985"/>
          </a:xfrm>
        </p:grpSpPr>
        <p:sp>
          <p:nvSpPr>
            <p:cNvPr id="4" name="object 4" descr=""/>
            <p:cNvSpPr/>
            <p:nvPr/>
          </p:nvSpPr>
          <p:spPr>
            <a:xfrm>
              <a:off x="496119" y="1069628"/>
              <a:ext cx="2202180" cy="1398905"/>
            </a:xfrm>
            <a:custGeom>
              <a:avLst/>
              <a:gdLst/>
              <a:ahLst/>
              <a:cxnLst/>
              <a:rect l="l" t="t" r="r" b="b"/>
              <a:pathLst>
                <a:path w="2202180" h="1398905">
                  <a:moveTo>
                    <a:pt x="2147100" y="0"/>
                  </a:moveTo>
                  <a:lnTo>
                    <a:pt x="54890" y="0"/>
                  </a:lnTo>
                  <a:lnTo>
                    <a:pt x="33610" y="4342"/>
                  </a:lnTo>
                  <a:lnTo>
                    <a:pt x="16153" y="16152"/>
                  </a:lnTo>
                  <a:lnTo>
                    <a:pt x="4342" y="33609"/>
                  </a:lnTo>
                  <a:lnTo>
                    <a:pt x="0" y="54889"/>
                  </a:lnTo>
                  <a:lnTo>
                    <a:pt x="0" y="1343939"/>
                  </a:lnTo>
                  <a:lnTo>
                    <a:pt x="4342" y="1365221"/>
                  </a:lnTo>
                  <a:lnTo>
                    <a:pt x="16153" y="1382682"/>
                  </a:lnTo>
                  <a:lnTo>
                    <a:pt x="33610" y="1394497"/>
                  </a:lnTo>
                  <a:lnTo>
                    <a:pt x="54890" y="1398841"/>
                  </a:lnTo>
                  <a:lnTo>
                    <a:pt x="2147100" y="1398841"/>
                  </a:lnTo>
                  <a:lnTo>
                    <a:pt x="2168379" y="1394497"/>
                  </a:lnTo>
                  <a:lnTo>
                    <a:pt x="2185836" y="1382682"/>
                  </a:lnTo>
                  <a:lnTo>
                    <a:pt x="2197647" y="1365221"/>
                  </a:lnTo>
                  <a:lnTo>
                    <a:pt x="2201989" y="1343939"/>
                  </a:lnTo>
                  <a:lnTo>
                    <a:pt x="2201989" y="54889"/>
                  </a:lnTo>
                  <a:lnTo>
                    <a:pt x="2197647" y="33609"/>
                  </a:lnTo>
                  <a:lnTo>
                    <a:pt x="2185836" y="16152"/>
                  </a:lnTo>
                  <a:lnTo>
                    <a:pt x="2168379" y="4342"/>
                  </a:lnTo>
                  <a:lnTo>
                    <a:pt x="2147100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96119" y="1069628"/>
              <a:ext cx="2202180" cy="1398905"/>
            </a:xfrm>
            <a:custGeom>
              <a:avLst/>
              <a:gdLst/>
              <a:ahLst/>
              <a:cxnLst/>
              <a:rect l="l" t="t" r="r" b="b"/>
              <a:pathLst>
                <a:path w="2202180" h="1398905">
                  <a:moveTo>
                    <a:pt x="0" y="54889"/>
                  </a:moveTo>
                  <a:lnTo>
                    <a:pt x="4342" y="33609"/>
                  </a:lnTo>
                  <a:lnTo>
                    <a:pt x="16153" y="16152"/>
                  </a:lnTo>
                  <a:lnTo>
                    <a:pt x="33610" y="4342"/>
                  </a:lnTo>
                  <a:lnTo>
                    <a:pt x="54890" y="0"/>
                  </a:lnTo>
                  <a:lnTo>
                    <a:pt x="2147100" y="0"/>
                  </a:lnTo>
                  <a:lnTo>
                    <a:pt x="2168379" y="4342"/>
                  </a:lnTo>
                  <a:lnTo>
                    <a:pt x="2185836" y="16152"/>
                  </a:lnTo>
                  <a:lnTo>
                    <a:pt x="2197647" y="33609"/>
                  </a:lnTo>
                  <a:lnTo>
                    <a:pt x="2201989" y="54889"/>
                  </a:lnTo>
                  <a:lnTo>
                    <a:pt x="2201989" y="1343939"/>
                  </a:lnTo>
                  <a:lnTo>
                    <a:pt x="2197647" y="1365221"/>
                  </a:lnTo>
                  <a:lnTo>
                    <a:pt x="2185836" y="1382682"/>
                  </a:lnTo>
                  <a:lnTo>
                    <a:pt x="2168379" y="1394497"/>
                  </a:lnTo>
                  <a:lnTo>
                    <a:pt x="2147100" y="1398841"/>
                  </a:lnTo>
                  <a:lnTo>
                    <a:pt x="54890" y="1398841"/>
                  </a:lnTo>
                  <a:lnTo>
                    <a:pt x="33610" y="1394497"/>
                  </a:lnTo>
                  <a:lnTo>
                    <a:pt x="16153" y="1382682"/>
                  </a:lnTo>
                  <a:lnTo>
                    <a:pt x="4342" y="1365221"/>
                  </a:lnTo>
                  <a:lnTo>
                    <a:pt x="0" y="1343939"/>
                  </a:lnTo>
                  <a:lnTo>
                    <a:pt x="0" y="54889"/>
                  </a:lnTo>
                  <a:close/>
                </a:path>
              </a:pathLst>
            </a:custGeom>
            <a:ln w="4762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18851" y="1189008"/>
            <a:ext cx="1922145" cy="1088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2C3148"/>
                </a:solidFill>
                <a:latin typeface="Arial"/>
                <a:cs typeface="Arial"/>
              </a:rPr>
              <a:t>Technical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28000"/>
              </a:lnSpc>
              <a:spcBef>
                <a:spcPts val="725"/>
              </a:spcBef>
            </a:pP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Python,</a:t>
            </a:r>
            <a:r>
              <a:rPr dirty="0" sz="10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PySpark,</a:t>
            </a:r>
            <a:r>
              <a:rPr dirty="0" sz="10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SQL,</a:t>
            </a:r>
            <a:r>
              <a:rPr dirty="0" sz="10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AWS</a:t>
            </a:r>
            <a:r>
              <a:rPr dirty="0" sz="1000" spc="-20">
                <a:solidFill>
                  <a:srgbClr val="2C3148"/>
                </a:solidFill>
                <a:latin typeface="Arial"/>
                <a:cs typeface="Arial"/>
              </a:rPr>
              <a:t> (S3,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Glue,</a:t>
            </a:r>
            <a:r>
              <a:rPr dirty="0" sz="10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Redshift,</a:t>
            </a:r>
            <a:r>
              <a:rPr dirty="0" sz="10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C3148"/>
                </a:solidFill>
                <a:latin typeface="Arial"/>
                <a:cs typeface="Arial"/>
              </a:rPr>
              <a:t>Athena),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Snowflake,</a:t>
            </a:r>
            <a:r>
              <a:rPr dirty="0" sz="10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DBT,</a:t>
            </a:r>
            <a:r>
              <a:rPr dirty="0" sz="10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C3148"/>
                </a:solidFill>
                <a:latin typeface="Arial"/>
                <a:cs typeface="Arial"/>
              </a:rPr>
              <a:t>ETL/validation,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RAG</a:t>
            </a:r>
            <a:r>
              <a:rPr dirty="0" sz="1000" spc="-10">
                <a:solidFill>
                  <a:srgbClr val="2C3148"/>
                </a:solidFill>
                <a:latin typeface="Arial"/>
                <a:cs typeface="Arial"/>
              </a:rPr>
              <a:t> systems.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93737" y="2586564"/>
            <a:ext cx="2207260" cy="1403985"/>
            <a:chOff x="493737" y="2586564"/>
            <a:chExt cx="2207260" cy="1403985"/>
          </a:xfrm>
        </p:grpSpPr>
        <p:sp>
          <p:nvSpPr>
            <p:cNvPr id="8" name="object 8" descr=""/>
            <p:cNvSpPr/>
            <p:nvPr/>
          </p:nvSpPr>
          <p:spPr>
            <a:xfrm>
              <a:off x="496119" y="2588945"/>
              <a:ext cx="2202180" cy="1398905"/>
            </a:xfrm>
            <a:custGeom>
              <a:avLst/>
              <a:gdLst/>
              <a:ahLst/>
              <a:cxnLst/>
              <a:rect l="l" t="t" r="r" b="b"/>
              <a:pathLst>
                <a:path w="2202180" h="1398904">
                  <a:moveTo>
                    <a:pt x="2147100" y="0"/>
                  </a:moveTo>
                  <a:lnTo>
                    <a:pt x="54890" y="0"/>
                  </a:lnTo>
                  <a:lnTo>
                    <a:pt x="33610" y="4342"/>
                  </a:lnTo>
                  <a:lnTo>
                    <a:pt x="16153" y="16152"/>
                  </a:lnTo>
                  <a:lnTo>
                    <a:pt x="4342" y="33609"/>
                  </a:lnTo>
                  <a:lnTo>
                    <a:pt x="0" y="54889"/>
                  </a:lnTo>
                  <a:lnTo>
                    <a:pt x="0" y="1343939"/>
                  </a:lnTo>
                  <a:lnTo>
                    <a:pt x="4342" y="1365221"/>
                  </a:lnTo>
                  <a:lnTo>
                    <a:pt x="16153" y="1382682"/>
                  </a:lnTo>
                  <a:lnTo>
                    <a:pt x="33610" y="1394497"/>
                  </a:lnTo>
                  <a:lnTo>
                    <a:pt x="54890" y="1398841"/>
                  </a:lnTo>
                  <a:lnTo>
                    <a:pt x="2147100" y="1398841"/>
                  </a:lnTo>
                  <a:lnTo>
                    <a:pt x="2168379" y="1394497"/>
                  </a:lnTo>
                  <a:lnTo>
                    <a:pt x="2185836" y="1382682"/>
                  </a:lnTo>
                  <a:lnTo>
                    <a:pt x="2197647" y="1365221"/>
                  </a:lnTo>
                  <a:lnTo>
                    <a:pt x="2201989" y="1343939"/>
                  </a:lnTo>
                  <a:lnTo>
                    <a:pt x="2201989" y="54889"/>
                  </a:lnTo>
                  <a:lnTo>
                    <a:pt x="2197647" y="33609"/>
                  </a:lnTo>
                  <a:lnTo>
                    <a:pt x="2185836" y="16152"/>
                  </a:lnTo>
                  <a:lnTo>
                    <a:pt x="2168379" y="4342"/>
                  </a:lnTo>
                  <a:lnTo>
                    <a:pt x="2147100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96119" y="2588945"/>
              <a:ext cx="2202180" cy="1398905"/>
            </a:xfrm>
            <a:custGeom>
              <a:avLst/>
              <a:gdLst/>
              <a:ahLst/>
              <a:cxnLst/>
              <a:rect l="l" t="t" r="r" b="b"/>
              <a:pathLst>
                <a:path w="2202180" h="1398904">
                  <a:moveTo>
                    <a:pt x="0" y="54889"/>
                  </a:moveTo>
                  <a:lnTo>
                    <a:pt x="4342" y="33609"/>
                  </a:lnTo>
                  <a:lnTo>
                    <a:pt x="16153" y="16152"/>
                  </a:lnTo>
                  <a:lnTo>
                    <a:pt x="33610" y="4342"/>
                  </a:lnTo>
                  <a:lnTo>
                    <a:pt x="54890" y="0"/>
                  </a:lnTo>
                  <a:lnTo>
                    <a:pt x="2147100" y="0"/>
                  </a:lnTo>
                  <a:lnTo>
                    <a:pt x="2168379" y="4342"/>
                  </a:lnTo>
                  <a:lnTo>
                    <a:pt x="2185836" y="16152"/>
                  </a:lnTo>
                  <a:lnTo>
                    <a:pt x="2197647" y="33609"/>
                  </a:lnTo>
                  <a:lnTo>
                    <a:pt x="2201989" y="54889"/>
                  </a:lnTo>
                  <a:lnTo>
                    <a:pt x="2201989" y="1343939"/>
                  </a:lnTo>
                  <a:lnTo>
                    <a:pt x="2197647" y="1365221"/>
                  </a:lnTo>
                  <a:lnTo>
                    <a:pt x="2185836" y="1382682"/>
                  </a:lnTo>
                  <a:lnTo>
                    <a:pt x="2168379" y="1394497"/>
                  </a:lnTo>
                  <a:lnTo>
                    <a:pt x="2147100" y="1398841"/>
                  </a:lnTo>
                  <a:lnTo>
                    <a:pt x="54890" y="1398841"/>
                  </a:lnTo>
                  <a:lnTo>
                    <a:pt x="33610" y="1394497"/>
                  </a:lnTo>
                  <a:lnTo>
                    <a:pt x="16153" y="1382682"/>
                  </a:lnTo>
                  <a:lnTo>
                    <a:pt x="4342" y="1365221"/>
                  </a:lnTo>
                  <a:lnTo>
                    <a:pt x="0" y="1343939"/>
                  </a:lnTo>
                  <a:lnTo>
                    <a:pt x="0" y="54889"/>
                  </a:lnTo>
                  <a:close/>
                </a:path>
              </a:pathLst>
            </a:custGeom>
            <a:ln w="4762">
              <a:solidFill>
                <a:srgbClr val="C5D2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18851" y="2708325"/>
            <a:ext cx="1605280" cy="1088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2C3148"/>
                </a:solidFill>
                <a:latin typeface="Arial"/>
                <a:cs typeface="Arial"/>
              </a:rPr>
              <a:t>Professional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28000"/>
              </a:lnSpc>
              <a:spcBef>
                <a:spcPts val="725"/>
              </a:spcBef>
            </a:pP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Agile</a:t>
            </a:r>
            <a:r>
              <a:rPr dirty="0" sz="10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delivery,</a:t>
            </a:r>
            <a:r>
              <a:rPr dirty="0" sz="10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cross-</a:t>
            </a:r>
            <a:r>
              <a:rPr dirty="0" sz="1000" spc="-20">
                <a:solidFill>
                  <a:srgbClr val="2C3148"/>
                </a:solidFill>
                <a:latin typeface="Arial"/>
                <a:cs typeface="Arial"/>
              </a:rPr>
              <a:t>team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collaboration,</a:t>
            </a:r>
            <a:r>
              <a:rPr dirty="0" sz="1000" spc="-6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C3148"/>
                </a:solidFill>
                <a:latin typeface="Arial"/>
                <a:cs typeface="Arial"/>
              </a:rPr>
              <a:t>requirement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analysis,</a:t>
            </a:r>
            <a:r>
              <a:rPr dirty="0" sz="1000" spc="-5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presentation</a:t>
            </a:r>
            <a:r>
              <a:rPr dirty="0" sz="1000" spc="-4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C3148"/>
                </a:solidFill>
                <a:latin typeface="Arial"/>
                <a:cs typeface="Arial"/>
              </a:rPr>
              <a:t>&amp;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stakeholder </a:t>
            </a:r>
            <a:r>
              <a:rPr dirty="0" sz="1000" spc="-10">
                <a:solidFill>
                  <a:srgbClr val="2C3148"/>
                </a:solidFill>
                <a:latin typeface="Arial"/>
                <a:cs typeface="Arial"/>
              </a:rPr>
              <a:t>communication.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08960" y="984476"/>
            <a:ext cx="2191385" cy="1391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8000"/>
              </a:lnSpc>
              <a:spcBef>
                <a:spcPts val="100"/>
              </a:spcBef>
            </a:pP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Summary:</a:t>
            </a:r>
            <a:r>
              <a:rPr dirty="0" sz="1000" spc="-4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Developed</a:t>
            </a:r>
            <a:r>
              <a:rPr dirty="0" sz="10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C3148"/>
                </a:solidFill>
                <a:latin typeface="Arial"/>
                <a:cs typeface="Arial"/>
              </a:rPr>
              <a:t>strong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fundamentals</a:t>
            </a:r>
            <a:r>
              <a:rPr dirty="0" sz="1000" spc="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in</a:t>
            </a:r>
            <a:r>
              <a:rPr dirty="0" sz="1000" spc="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C3148"/>
                </a:solidFill>
                <a:latin typeface="Arial"/>
                <a:cs typeface="Arial"/>
              </a:rPr>
              <a:t>cloud-based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healthcare</a:t>
            </a:r>
            <a:r>
              <a:rPr dirty="0" sz="10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data</a:t>
            </a:r>
            <a:r>
              <a:rPr dirty="0" sz="10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engineering,</a:t>
            </a:r>
            <a:r>
              <a:rPr dirty="0" sz="1000" spc="-3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C3148"/>
                </a:solidFill>
                <a:latin typeface="Arial"/>
                <a:cs typeface="Arial"/>
              </a:rPr>
              <a:t>improved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pipeline</a:t>
            </a:r>
            <a:r>
              <a:rPr dirty="0" sz="1000" spc="-2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reliability</a:t>
            </a:r>
            <a:r>
              <a:rPr dirty="0" sz="10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through</a:t>
            </a:r>
            <a:r>
              <a:rPr dirty="0" sz="1000" spc="-2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C3148"/>
                </a:solidFill>
                <a:latin typeface="Arial"/>
                <a:cs typeface="Arial"/>
              </a:rPr>
              <a:t>validation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efforts,</a:t>
            </a:r>
            <a:r>
              <a:rPr dirty="0" sz="10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delivered</a:t>
            </a:r>
            <a:r>
              <a:rPr dirty="0" sz="10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a</a:t>
            </a:r>
            <a:r>
              <a:rPr dirty="0" sz="1000" spc="-3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successful</a:t>
            </a:r>
            <a:r>
              <a:rPr dirty="0" sz="1000" spc="-25">
                <a:solidFill>
                  <a:srgbClr val="2C3148"/>
                </a:solidFill>
                <a:latin typeface="Arial"/>
                <a:cs typeface="Arial"/>
              </a:rPr>
              <a:t> RAG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POC,</a:t>
            </a:r>
            <a:r>
              <a:rPr dirty="0" sz="10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and</a:t>
            </a:r>
            <a:r>
              <a:rPr dirty="0" sz="100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contributed</a:t>
            </a:r>
            <a:r>
              <a:rPr dirty="0" sz="10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to</a:t>
            </a:r>
            <a:r>
              <a:rPr dirty="0" sz="1000" spc="-10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C3148"/>
                </a:solidFill>
                <a:latin typeface="Arial"/>
                <a:cs typeface="Arial"/>
              </a:rPr>
              <a:t>AI</a:t>
            </a:r>
            <a:r>
              <a:rPr dirty="0" sz="1000" spc="-15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C3148"/>
                </a:solidFill>
                <a:latin typeface="Arial"/>
                <a:cs typeface="Arial"/>
              </a:rPr>
              <a:t>adoption discussions.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021660" y="2784792"/>
            <a:ext cx="2202180" cy="1286510"/>
            <a:chOff x="3021660" y="2784792"/>
            <a:chExt cx="2202180" cy="1286510"/>
          </a:xfrm>
        </p:grpSpPr>
        <p:sp>
          <p:nvSpPr>
            <p:cNvPr id="13" name="object 13" descr=""/>
            <p:cNvSpPr/>
            <p:nvPr/>
          </p:nvSpPr>
          <p:spPr>
            <a:xfrm>
              <a:off x="3021660" y="2784792"/>
              <a:ext cx="2202180" cy="1286510"/>
            </a:xfrm>
            <a:custGeom>
              <a:avLst/>
              <a:gdLst/>
              <a:ahLst/>
              <a:cxnLst/>
              <a:rect l="l" t="t" r="r" b="b"/>
              <a:pathLst>
                <a:path w="2202179" h="1286510">
                  <a:moveTo>
                    <a:pt x="2147100" y="0"/>
                  </a:moveTo>
                  <a:lnTo>
                    <a:pt x="54890" y="0"/>
                  </a:lnTo>
                  <a:lnTo>
                    <a:pt x="33610" y="4342"/>
                  </a:lnTo>
                  <a:lnTo>
                    <a:pt x="16153" y="16152"/>
                  </a:lnTo>
                  <a:lnTo>
                    <a:pt x="4342" y="33609"/>
                  </a:lnTo>
                  <a:lnTo>
                    <a:pt x="0" y="54889"/>
                  </a:lnTo>
                  <a:lnTo>
                    <a:pt x="0" y="1231506"/>
                  </a:lnTo>
                  <a:lnTo>
                    <a:pt x="4342" y="1252786"/>
                  </a:lnTo>
                  <a:lnTo>
                    <a:pt x="16153" y="1270242"/>
                  </a:lnTo>
                  <a:lnTo>
                    <a:pt x="33610" y="1282053"/>
                  </a:lnTo>
                  <a:lnTo>
                    <a:pt x="54890" y="1286395"/>
                  </a:lnTo>
                  <a:lnTo>
                    <a:pt x="2147100" y="1286395"/>
                  </a:lnTo>
                  <a:lnTo>
                    <a:pt x="2168379" y="1282053"/>
                  </a:lnTo>
                  <a:lnTo>
                    <a:pt x="2185836" y="1270242"/>
                  </a:lnTo>
                  <a:lnTo>
                    <a:pt x="2197647" y="1252786"/>
                  </a:lnTo>
                  <a:lnTo>
                    <a:pt x="2201989" y="1231506"/>
                  </a:lnTo>
                  <a:lnTo>
                    <a:pt x="2201989" y="54889"/>
                  </a:lnTo>
                  <a:lnTo>
                    <a:pt x="2197647" y="33609"/>
                  </a:lnTo>
                  <a:lnTo>
                    <a:pt x="2185836" y="16152"/>
                  </a:lnTo>
                  <a:lnTo>
                    <a:pt x="2168379" y="4342"/>
                  </a:lnTo>
                  <a:lnTo>
                    <a:pt x="2147100" y="0"/>
                  </a:lnTo>
                  <a:close/>
                </a:path>
              </a:pathLst>
            </a:custGeom>
            <a:solidFill>
              <a:srgbClr val="CFE1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2330" y="2967113"/>
              <a:ext cx="163338" cy="130670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3433635" y="2867825"/>
            <a:ext cx="1591945" cy="1000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8000"/>
              </a:lnSpc>
              <a:spcBef>
                <a:spcPts val="100"/>
              </a:spcBef>
            </a:pPr>
            <a:r>
              <a:rPr dirty="0" sz="1000">
                <a:latin typeface="Arial"/>
                <a:cs typeface="Arial"/>
              </a:rPr>
              <a:t>Next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steps: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Expand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POC </a:t>
            </a:r>
            <a:r>
              <a:rPr dirty="0" sz="1000">
                <a:latin typeface="Arial"/>
                <a:cs typeface="Arial"/>
              </a:rPr>
              <a:t>into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staging,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integrate </a:t>
            </a:r>
            <a:r>
              <a:rPr dirty="0" sz="1000">
                <a:latin typeface="Arial"/>
                <a:cs typeface="Arial"/>
              </a:rPr>
              <a:t>retriever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with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runbooks,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and </a:t>
            </a:r>
            <a:r>
              <a:rPr dirty="0" sz="1000">
                <a:latin typeface="Arial"/>
                <a:cs typeface="Arial"/>
              </a:rPr>
              <a:t>formalise</a:t>
            </a:r>
            <a:r>
              <a:rPr dirty="0" sz="1000" spc="-4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validation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 spc="-20">
                <a:latin typeface="Arial"/>
                <a:cs typeface="Arial"/>
              </a:rPr>
              <a:t>rule </a:t>
            </a:r>
            <a:r>
              <a:rPr dirty="0" sz="1000" spc="-10">
                <a:latin typeface="Arial"/>
                <a:cs typeface="Arial"/>
              </a:rPr>
              <a:t>library.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37504" y="4191304"/>
            <a:ext cx="21704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2C3148"/>
                </a:solidFill>
                <a:latin typeface="Arial"/>
                <a:cs typeface="Arial"/>
              </a:rPr>
              <a:t>Thank</a:t>
            </a:r>
            <a:r>
              <a:rPr dirty="0" sz="1000" spc="-20" b="1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2C3148"/>
                </a:solidFill>
                <a:latin typeface="Arial"/>
                <a:cs typeface="Arial"/>
              </a:rPr>
              <a:t>you</a:t>
            </a:r>
            <a:r>
              <a:rPr dirty="0" sz="1000" spc="-15" b="1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2C3148"/>
                </a:solidFill>
                <a:latin typeface="Arial"/>
                <a:cs typeface="Arial"/>
              </a:rPr>
              <a:t>—</a:t>
            </a:r>
            <a:r>
              <a:rPr dirty="0" sz="1000" spc="-15" b="1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2C3148"/>
                </a:solidFill>
                <a:latin typeface="Arial"/>
                <a:cs typeface="Arial"/>
              </a:rPr>
              <a:t>Questions</a:t>
            </a:r>
            <a:r>
              <a:rPr dirty="0" sz="1000" spc="-15" b="1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2C3148"/>
                </a:solidFill>
                <a:latin typeface="Arial"/>
                <a:cs typeface="Arial"/>
              </a:rPr>
              <a:t>&amp;</a:t>
            </a:r>
            <a:r>
              <a:rPr dirty="0" sz="1000" spc="-15" b="1">
                <a:solidFill>
                  <a:srgbClr val="2C3148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2C3148"/>
                </a:solidFill>
                <a:latin typeface="Arial"/>
                <a:cs typeface="Arial"/>
              </a:rPr>
              <a:t>Answers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2026-06-12T13:24:19Z</dcterms:created>
  <dcterms:modified xsi:type="dcterms:W3CDTF">2026-06-12T13:24:19Z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2026-06-12T00:00:00Z</vt:filetime>
  </property>
  <property fmtid="{D5CDD505-2E9C-101B-9397-08002B2CF9AE}" pid="3" name="LastSaved">
    <vt:filetime>2026-06-12T00:00:00Z</vt:filetime>
  </property>
  <property fmtid="{D5CDD505-2E9C-101B-9397-08002B2CF9AE}" pid="4" name="Producer">
    <vt:lpwstr>3-Heights(TM) PDF Security Shell 4.8.25.2 (http://www.pdf-tools.com)</vt:lpwstr>
  </property>
</Properties>
</file>